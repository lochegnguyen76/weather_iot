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6"/>
    <p:sldId id="267" r:id="rId5"/>
    <p:sldId id="268" r:id="rId4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810"/>
    <p:restoredTop sz="94652"/>
  </p:normalViewPr>
  <p:slideViewPr>
    <p:cSldViewPr snapToGrid="0">
      <p:cViewPr varScale="1">
        <p:scale>
          <a:sx n="78" d="100"/>
          <a:sy n="78" d="100"/>
        </p:scale>
        <p:origin x="19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354253"/>
                </a:solidFill>
              </a:rPr>
              <a:t>Tốc độ ghi theo số luồng (bản ghi/giây)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Tốc độ ghi (bản ghi/s)</c:v>
                </c:pt>
              </c:strCache>
            </c:strRef>
          </c:tx>
          <c:spPr>
            <a:solidFill>
              <a:srgbClr val="2072B7"/>
            </a:solidFill>
          </c:spPr>
          <c:cat>
            <c:strRef>
              <c:f>Sheet1!$A$2:$A$4</c:f>
              <c:strCache>
                <c:ptCount val="3"/>
                <c:pt idx="0">
                  <c:v>1 luồng</c:v>
                </c:pt>
                <c:pt idx="1">
                  <c:v>5 luồng</c:v>
                </c:pt>
                <c:pt idx="2">
                  <c:v>10 luồng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</c:v>
                </c:pt>
                <c:pt idx="1">
                  <c:v>5.2</c:v>
                </c:pt>
                <c:pt idx="2">
                  <c:v>7.0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500" b="1">
                  <a:solidFill>
                    <a:srgbClr val="35425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0"/>
          <c:min val="0.0"/>
        </c:scaling>
        <c:delete val="0"/>
        <c:axPos val="l"/>
        <c:majorGridlines>
          <c:spPr>
            <a:ln>
              <a:solidFill>
                <a:srgbClr val="C9D9E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Giới thiệu đề tài và nhóm. Cần điền họ tên và MSSV của 3 thành viên.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trạm gửi nhiệt độ, độ ẩm, áp suất liên tục; hệ thống ghi nhiều, tra cứu theo trạm và khoảng thời gian.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Workload chính là ghi liên tục và đọc theo mẫu cố định, đúng thế mạnh của Cassandra.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Simulator và seed ghi qua repo.py; dashboard đọc qua app.py; CQL Console truy vấn thẳng vào cùng keyspace.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Partition Key gộp station_id và log_date; Clustering Key ts giảm dần.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Mỗi chức năng có CQL trong repo.py, API trong app.py và nút trên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lệnh chạy thật trên CQL Console của Astra: 28 dòng, mới đến cũ, không có ORDER BY.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Dashboard Flask + Chart.js + Leaflet, tự làm mới mỗi 2 giây.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640/640 bản ghi ghi thành công, lỗi 0% ở 1, 5 và 10 luồng. Độ trễ gồm mạng Việt Nam - Mỹ.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Trước demo: bấm Resume trên Astra nếu database tự ngủ; chạy python app.py --no-sim để không có hai luồng ghi chồng nhau.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Điền họ tên và MSSV vào bảng phân công trước khi nộp.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Mời thầy cô đặt câu hỏi.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FA5C7D-F076-ABAB-28ED-936E6476926A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CBF138-DDAA-03AE-2BFD-F0E6E77D0894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6B26E30-45B4-E434-42E3-BFE66D53EB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8EE5A3-86BB-B40C-62D9-2E005424811B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20" name="Picture 19" descr="A building with trees in the background&#10;&#10;Description automatically generated">
            <a:extLst>
              <a:ext uri="{FF2B5EF4-FFF2-40B4-BE49-F238E27FC236}">
                <a16:creationId xmlns:a16="http://schemas.microsoft.com/office/drawing/2014/main" id="{633C415B-DE87-6E90-4B13-A134B02EF4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0160" y="5045074"/>
            <a:ext cx="12202160" cy="1676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088D834-70EE-F737-6AE1-030852F6AA55}"/>
              </a:ext>
            </a:extLst>
          </p:cNvPr>
          <p:cNvSpPr txBox="1"/>
          <p:nvPr userDrawn="1"/>
        </p:nvSpPr>
        <p:spPr>
          <a:xfrm>
            <a:off x="2545718" y="32083"/>
            <a:ext cx="70904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 CÔNG THƯƠNG</a:t>
            </a:r>
          </a:p>
          <a:p>
            <a:pPr algn="ctr"/>
            <a:r>
              <a:rPr lang="en-US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THƯƠNG THÀNH PHỐ HỒ CHÍ MINH</a:t>
            </a:r>
            <a:endParaRPr lang="en-VN" sz="1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 descr="A white circle with blue and red text and a book with a graduation cap&#10;&#10;Description automatically generated">
            <a:extLst>
              <a:ext uri="{FF2B5EF4-FFF2-40B4-BE49-F238E27FC236}">
                <a16:creationId xmlns:a16="http://schemas.microsoft.com/office/drawing/2014/main" id="{CC7CB636-E017-BD51-B7F7-2797B5CEAFFA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133" y="18061"/>
            <a:ext cx="666000" cy="66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2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D56CA0-7F99-A73F-EC74-87E2C37C45F8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4305"/>
            <a:ext cx="10515600" cy="8063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36941E3-E3EC-8EF3-53CB-96FCF404C8E3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  <p:sp>
        <p:nvSpPr>
          <p:cNvPr id="11" name="Rectangle 11">
            <a:extLst>
              <a:ext uri="{FF2B5EF4-FFF2-40B4-BE49-F238E27FC236}">
                <a16:creationId xmlns:a16="http://schemas.microsoft.com/office/drawing/2014/main" id="{D433E92D-1893-9769-8444-34EEDD3F24BC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550C907-0A3F-10BA-C15C-CA461460FE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B4E7459-A8A2-5081-F907-74BAE417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0F50DE-1588-0A68-B2AE-03A7C3A9B079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958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DCC048-85E1-D9DE-466A-D5EAB21DAFC6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0547C463-86A8-9ADB-B42F-6F8F911146A4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2EE3A5-6242-A6B2-F6B4-2094B545F5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9473FA4-C6C6-7E97-AACE-A35CFDAB7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851853-8430-FC7D-0C05-EA3095D410B2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632828F-0B4F-8119-5B19-088A1173C903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89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EE82EC-C435-7D46-EFDD-D5C6A244EEA6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7329"/>
            <a:ext cx="10515600" cy="71336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CE50E531-FF89-E7A1-EC42-5664726867C2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4D41C0-EECC-510F-3124-F7EBC163F8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1F0268C-2917-2762-4664-C6ACF3587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7AE9E0-DBEB-84FF-4DC2-C53AC3C7993F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93BE15D-74FA-AED7-3D2B-A613D05E679B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84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A13BF4-06A1-B98B-FD59-CA5020C120FA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6777"/>
            <a:ext cx="10515600" cy="8239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8D1E83-C000-B443-17A1-67E172C1C81A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4F5B01C-A4C1-2548-9E99-49DA8F4F39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622E35-ED11-3E1D-3267-FB7969EBB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5FADBA-93BC-7FCB-D7C6-2138FE10BECE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F168AC0-F6F3-71BB-BDB7-D14C957BCB1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784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A521EA7-200B-F8EF-FA1A-AF68F6EAFB52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4059"/>
            <a:ext cx="10515600" cy="8166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C62A9323-B343-0333-2A84-AB84726F1555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72A695-B9BF-2B5E-F712-588F45EA7A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0B28936-A209-8496-713D-69F06443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1FC07C-FFBA-6E41-FC9E-B8C545CCA2CA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43E1AB2-24F0-751B-86DE-9AC77889FA3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62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1F72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5A64684-422C-D171-0292-6610A91BE81D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D82848-CD15-3DBB-0148-67FB51371B08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  <p:sp>
        <p:nvSpPr>
          <p:cNvPr id="8" name="Rectangle 11">
            <a:extLst>
              <a:ext uri="{FF2B5EF4-FFF2-40B4-BE49-F238E27FC236}">
                <a16:creationId xmlns:a16="http://schemas.microsoft.com/office/drawing/2014/main" id="{181386B9-1456-137E-66EE-45A4447494C5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CB3CD2-68E1-7670-8AC8-DCAEFA0447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855B251-549F-CC81-82C4-1791D4DC0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95FE02-F81D-DAA0-4384-0E62C5A8FC54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https://huit.edu.vn</a:t>
            </a:r>
            <a:endParaRPr lang="en-VN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512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654E7B-7E2F-A597-CEAB-D64DA25FBCEB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6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A9AB12A-F2B6-4320-39F1-67F3778EE5DF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73966A-35C2-70BC-CFF9-46C3441D8C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8C1A7AF-70A0-C0E9-B2F5-1490BE6C7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216FF7-3AE9-85FA-D18A-9862C6DB59AE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C0ADFA0-11B6-96C9-35AE-E6733196ACDA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604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2A7AA7-CA5F-D2FA-2E5E-C3E10A53D359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6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1EDE2594-98FA-EBCE-C733-A51E9F54ED18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735AE5-30EC-7992-E657-2104C4F3BF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CB5785D-C6E0-0BB4-B792-5DF6906E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C76ABB-19BA-0D81-2004-CA8C1BFA3211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3DEC689-0562-F90A-00BD-D3E65D677F10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388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B8236F-F572-6350-D20A-0FCE1F380099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4304"/>
            <a:ext cx="10515600" cy="80638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9C659F1E-1F51-522D-AC8E-BE6E140A9E7D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1B0D34-343B-C838-5720-7351BA57CF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B8E042D-2BAA-2A3F-EC27-380C92DBE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CD5B80-37F9-BE16-90B3-B1958D8A8755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62415AA-63D3-FB51-385B-BC2BCB0599A3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3602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2366D-8698-B649-944B-CF1A6B166FF8}" type="datetimeFigureOut">
              <a:t>10/15/2026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9440A-2DED-3643-ADED-9B5C83E7D828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622727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5AAC1D3-EE6D-FC85-F800-5FCE3F264EAA}"/>
              </a:ext>
            </a:extLst>
          </p:cNvPr>
          <p:cNvSpPr txBox="1"/>
          <p:nvPr/>
        </p:nvSpPr>
        <p:spPr>
          <a:xfrm>
            <a:off x="822960" y="960120"/>
            <a:ext cx="10543032" cy="777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/>
            <a:r>
              <a:rPr lang="en-US" sz="4400" b="1" dirty="0">
                <a:solidFill>
                  <a:srgbClr val="ED1C24"/>
                </a:solidFill>
                <a:latin typeface="Myriad Pro" panose="020B0503030403020204" pitchFamily="34" charset="0"/>
              </a:rPr>
              <a:t>ĐỀ TÀI 08</a:t>
            </a:r>
            <a:endParaRPr lang="en-VN" sz="4400" b="1" dirty="0">
              <a:solidFill>
                <a:srgbClr val="ED1C24"/>
              </a:solidFill>
              <a:latin typeface="Myriad Pro" panose="020B05030304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CF78BC-6A27-21AC-5EBD-81C9E14542EB}"/>
              </a:ext>
            </a:extLst>
          </p:cNvPr>
          <p:cNvSpPr txBox="1"/>
          <p:nvPr/>
        </p:nvSpPr>
        <p:spPr>
          <a:xfrm>
            <a:off x="822960" y="1783080"/>
            <a:ext cx="10543032" cy="1234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/>
            <a:r>
              <a:rPr lang="en-US" sz="3400" b="1" dirty="0">
                <a:solidFill>
                  <a:srgbClr val="034EA2"/>
                </a:solidFill>
                <a:latin typeface="Myriad Pro" panose="020B0503030403020204" pitchFamily="34" charset="0"/>
              </a:rPr>
              <a:t>Hệ thống giám sát dữ liệu cảm biến</a:t>
            </a:r>
            <a:br>
              <a:rPr lang="en-US" sz="3400" b="1" dirty="0">
                <a:solidFill>
                  <a:srgbClr val="034EA2"/>
                </a:solidFill>
                <a:latin typeface="Myriad Pro" panose="020B0503030403020204" pitchFamily="34" charset="0"/>
              </a:rPr>
            </a:br>
            <a:r>
              <a:rPr lang="en-US" sz="3400" b="1" dirty="0">
                <a:solidFill>
                  <a:srgbClr val="034EA2"/>
                </a:solidFill>
                <a:latin typeface="Myriad Pro" panose="020B0503030403020204" pitchFamily="34" charset="0"/>
              </a:rPr>
              <a:t>IoT Weather Station</a:t>
            </a:r>
            <a:endParaRPr lang="en-VN" sz="3400" b="1" dirty="0">
              <a:solidFill>
                <a:srgbClr val="034EA2"/>
              </a:solidFill>
              <a:latin typeface="Myriad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7E2475-13C4-9385-87CD-4BB65220D9F5}"/>
              </a:ext>
            </a:extLst>
          </p:cNvPr>
          <p:cNvSpPr txBox="1"/>
          <p:nvPr/>
        </p:nvSpPr>
        <p:spPr>
          <a:xfrm>
            <a:off x="822960" y="3154680"/>
            <a:ext cx="10543032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/>
            <a:r>
              <a:rPr lang="en-US" sz="2400" b="1" dirty="0">
                <a:solidFill>
                  <a:srgbClr val="000000"/>
                </a:solidFill>
                <a:latin typeface="Myriad Pro" panose="020B0503030403020204" pitchFamily="34" charset="0"/>
              </a:rPr>
              <a:t>Môn NoSQL · Apache Cassandra (DataStax Astra DB)</a:t>
            </a:r>
            <a:endParaRPr lang="en-VN" sz="2400" b="1" dirty="0">
              <a:solidFill>
                <a:srgbClr val="000000"/>
              </a:solidFill>
              <a:latin typeface="Myriad Pro" panose="020B0503030403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655C6D-6344-E3C7-0794-405668DB7F8A}"/>
              </a:ext>
            </a:extLst>
          </p:cNvPr>
          <p:cNvSpPr txBox="1"/>
          <p:nvPr/>
        </p:nvSpPr>
        <p:spPr>
          <a:xfrm>
            <a:off x="822960" y="3931920"/>
            <a:ext cx="10543032" cy="457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/>
            <a:r>
              <a:rPr lang="en-US" dirty="0" sz="1800">
                <a:solidFill>
                  <a:srgbClr val="000000"/>
                </a:solidFill>
                <a:latin typeface="Myriad Pro" panose="020B0503030403020204" pitchFamily="34" charset="0"/>
              </a:rPr>
              <a:t>Nhóm 3 sinh viên: [Họ tên SV1] · [Họ tên SV2] · [Họ tên SV3]</a:t>
            </a:r>
            <a:endParaRPr lang="en-VN" dirty="0" sz="1800">
              <a:solidFill>
                <a:srgbClr val="000000"/>
              </a:solidFill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44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044F9E"/>
                </a:solidFill>
              </a:rPr>
              <a:t>Bài toán và mục tiêu</a:t>
            </a:r>
          </a:p>
        </p:txBody>
      </p:sp>
      <p:sp>
        <p:nvSpPr>
          <p:cNvPr id="3" name="stat-1"/>
          <p:cNvSpPr/>
          <p:nvPr/>
        </p:nvSpPr>
        <p:spPr>
          <a:xfrm>
            <a:off x="841248" y="1828800"/>
            <a:ext cx="3291840" cy="155448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1901952"/>
            <a:ext cx="310896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 marL="0" indent="0">
              <a:buNone/>
            </a:pPr>
            <a:r>
              <a:rPr sz="4800" b="1">
                <a:solidFill>
                  <a:srgbClr val="044F9E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74320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ctr" marL="0" indent="0">
              <a:buNone/>
            </a:pPr>
            <a:r>
              <a:rPr sz="1700" b="0">
                <a:solidFill>
                  <a:srgbClr val="354253"/>
                </a:solidFill>
              </a:rPr>
              <a:t>trạm quan trắc (ST01…ST10)</a:t>
            </a:r>
          </a:p>
        </p:txBody>
      </p:sp>
      <p:sp>
        <p:nvSpPr>
          <p:cNvPr id="6" name="stat-2"/>
          <p:cNvSpPr/>
          <p:nvPr/>
        </p:nvSpPr>
        <p:spPr>
          <a:xfrm>
            <a:off x="4453128" y="1828800"/>
            <a:ext cx="3291840" cy="155448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4568" y="1901952"/>
            <a:ext cx="310896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 marL="0" indent="0">
              <a:buNone/>
            </a:pPr>
            <a:r>
              <a:rPr sz="4800" b="1">
                <a:solidFill>
                  <a:srgbClr val="044F9E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4568" y="274320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ctr" marL="0" indent="0">
              <a:buNone/>
            </a:pPr>
            <a:r>
              <a:rPr sz="1700" b="0">
                <a:solidFill>
                  <a:srgbClr val="354253"/>
                </a:solidFill>
              </a:rPr>
              <a:t>chỉ số: nhiệt độ, độ ẩm, áp suất</a:t>
            </a:r>
          </a:p>
        </p:txBody>
      </p:sp>
      <p:sp>
        <p:nvSpPr>
          <p:cNvPr id="9" name="stat-3"/>
          <p:cNvSpPr/>
          <p:nvPr/>
        </p:nvSpPr>
        <p:spPr>
          <a:xfrm>
            <a:off x="8065008" y="1828800"/>
            <a:ext cx="3291840" cy="155448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8" y="1901952"/>
            <a:ext cx="310896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 marL="0" indent="0">
              <a:buNone/>
            </a:pPr>
            <a:r>
              <a:rPr sz="4800" b="1">
                <a:solidFill>
                  <a:srgbClr val="044F9E"/>
                </a:solidFill>
              </a:rPr>
              <a:t>2.400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274320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ctr" marL="0" indent="0">
              <a:buNone/>
            </a:pPr>
            <a:r>
              <a:rPr sz="1700" b="0">
                <a:solidFill>
                  <a:srgbClr val="354253"/>
                </a:solidFill>
              </a:rPr>
              <a:t>bản ghi mẫu (10 trạm × 240)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657600"/>
            <a:ext cx="502920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1">
                <a:solidFill>
                  <a:srgbClr val="2072B7"/>
                </a:solidFill>
              </a:rPr>
              <a:t>Bài toán</a:t>
            </a:r>
          </a:p>
          <a:p>
            <a:pPr algn="l" marL="0" indent="0">
              <a:spcAft>
                <a:spcPts val="800"/>
              </a:spcAft>
              <a:buNone/>
            </a:pPr>
            <a:r>
              <a:rPr sz="1800" b="0">
                <a:solidFill>
                  <a:srgbClr val="354253"/>
                </a:solidFill>
              </a:rPr>
              <a:t>Các trạm gửi số liệu liên tục: ghi rất nhiều, chỉ thêm mới theo thời gian, hầu như không cập nhật.</a:t>
            </a:r>
          </a:p>
          <a:p>
            <a:pPr algn="l" marL="0" indent="0">
              <a:buNone/>
            </a:pPr>
            <a:r>
              <a:rPr sz="1800" b="0">
                <a:solidFill>
                  <a:srgbClr val="354253"/>
                </a:solidFill>
              </a:rPr>
              <a:t>Người dùng cần tra cứu nhanh theo mẫu cố định: một trạm trong một khoảng thời gian, ví dụ 2 giờ gần nhất.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3657600"/>
            <a:ext cx="502920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1">
                <a:solidFill>
                  <a:srgbClr val="2072B7"/>
                </a:solidFill>
              </a:rPr>
              <a:t>Mục tiêu</a:t>
            </a:r>
          </a:p>
          <a:p>
            <a:pPr algn="l" marL="285750" indent="-285750">
              <a:spcAft>
                <a:spcPts val="400"/>
              </a:spcAft>
              <a:buChar char="•"/>
            </a:pPr>
            <a:r>
              <a:rPr sz="1800" b="0">
                <a:solidFill>
                  <a:srgbClr val="354253"/>
                </a:solidFill>
              </a:rPr>
              <a:t>Mô hình dữ liệu theo truy vấn (Partition Key, Clustering Key)</a:t>
            </a:r>
          </a:p>
          <a:p>
            <a:pPr algn="l" marL="285750" indent="-285750">
              <a:spcAft>
                <a:spcPts val="400"/>
              </a:spcAft>
              <a:buChar char="•"/>
            </a:pPr>
            <a:r>
              <a:rPr sz="1800" b="0">
                <a:solidFill>
                  <a:srgbClr val="354253"/>
                </a:solidFill>
              </a:rPr>
              <a:t>CRUD cho trạm, cảm biến và log đo</a:t>
            </a:r>
          </a:p>
          <a:p>
            <a:pPr algn="l" marL="285750" indent="-285750">
              <a:spcAft>
                <a:spcPts val="400"/>
              </a:spcAft>
              <a:buChar char="•"/>
            </a:pPr>
            <a:r>
              <a:rPr sz="1800" b="0">
                <a:solidFill>
                  <a:srgbClr val="354253"/>
                </a:solidFill>
              </a:rPr>
              <a:t>Truy vấn dải thời gian bằng CQL, không sort ở ứng dụng</a:t>
            </a:r>
          </a:p>
          <a:p>
            <a:pPr algn="l" marL="285750" indent="-285750">
              <a:spcAft>
                <a:spcPts val="400"/>
              </a:spcAft>
              <a:buChar char="•"/>
            </a:pPr>
            <a:r>
              <a:rPr sz="1800" b="0">
                <a:solidFill>
                  <a:srgbClr val="354253"/>
                </a:solidFill>
              </a:rPr>
              <a:t>Kiểm thử với dữ liệu mẫu, có số đo hiệu năng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044F9E"/>
                </a:solidFill>
              </a:rPr>
              <a:t>Vì sao chọn Cassandra cho dữ liệu time-series</a:t>
            </a:r>
          </a:p>
        </p:txBody>
      </p:sp>
      <p:sp>
        <p:nvSpPr>
          <p:cNvPr id="3" name="why-1"/>
          <p:cNvSpPr/>
          <p:nvPr/>
        </p:nvSpPr>
        <p:spPr>
          <a:xfrm>
            <a:off x="841248" y="1828800"/>
            <a:ext cx="5093208" cy="1481328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38528"/>
            <a:ext cx="4764024" cy="12618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900" b="1">
                <a:solidFill>
                  <a:srgbClr val="044F9E"/>
                </a:solidFill>
              </a:rPr>
              <a:t>Ghi tốc độ cao</a:t>
            </a:r>
          </a:p>
          <a:p>
            <a:pPr algn="l" marL="0" indent="0">
              <a:buNone/>
            </a:pPr>
            <a:r>
              <a:rPr sz="1600" b="0">
                <a:solidFill>
                  <a:srgbClr val="354253"/>
                </a:solidFill>
              </a:rPr>
              <a:t>Kiến trúc LSM-tree: ghi tuần tự vào commit log và memtable, không đọc trước khi ghi, không khóa dòng.</a:t>
            </a:r>
          </a:p>
        </p:txBody>
      </p:sp>
      <p:sp>
        <p:nvSpPr>
          <p:cNvPr id="5" name="why-2"/>
          <p:cNvSpPr/>
          <p:nvPr/>
        </p:nvSpPr>
        <p:spPr>
          <a:xfrm>
            <a:off x="6263640" y="1828800"/>
            <a:ext cx="5093208" cy="1481328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28231" y="1938528"/>
            <a:ext cx="4764024" cy="12618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900" b="1">
                <a:solidFill>
                  <a:srgbClr val="044F9E"/>
                </a:solidFill>
              </a:rPr>
              <a:t>Mở rộng ngang</a:t>
            </a:r>
          </a:p>
          <a:p>
            <a:pPr algn="l" marL="0" indent="0">
              <a:buNone/>
            </a:pPr>
            <a:r>
              <a:rPr sz="1600" b="0">
                <a:solidFill>
                  <a:srgbClr val="354253"/>
                </a:solidFill>
              </a:rPr>
              <a:t>Masterless, các node ngang hàng; dữ liệu phân tán theo hash của Partition Key; không có điểm lỗi đơn.</a:t>
            </a:r>
          </a:p>
        </p:txBody>
      </p:sp>
      <p:sp>
        <p:nvSpPr>
          <p:cNvPr id="7" name="why-3"/>
          <p:cNvSpPr/>
          <p:nvPr/>
        </p:nvSpPr>
        <p:spPr>
          <a:xfrm>
            <a:off x="841248" y="3474720"/>
            <a:ext cx="5093208" cy="1481328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584448"/>
            <a:ext cx="4764024" cy="12618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900" b="1">
                <a:solidFill>
                  <a:srgbClr val="044F9E"/>
                </a:solidFill>
              </a:rPr>
              <a:t>Đọc theo thời gian nhanh</a:t>
            </a:r>
          </a:p>
          <a:p>
            <a:pPr algn="l" marL="0" indent="0">
              <a:buNone/>
            </a:pPr>
            <a:r>
              <a:rPr sz="1600" b="0">
                <a:solidFill>
                  <a:srgbClr val="354253"/>
                </a:solidFill>
              </a:rPr>
              <a:t>Trong một partition, dòng được sắp xếp vật lý theo Clustering Key nên đọc dải thời gian là đọc liên tiếp một đoạn.</a:t>
            </a:r>
          </a:p>
        </p:txBody>
      </p:sp>
      <p:sp>
        <p:nvSpPr>
          <p:cNvPr id="9" name="why-4"/>
          <p:cNvSpPr/>
          <p:nvPr/>
        </p:nvSpPr>
        <p:spPr>
          <a:xfrm>
            <a:off x="6263640" y="3474720"/>
            <a:ext cx="5093208" cy="1481328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3584448"/>
            <a:ext cx="4764024" cy="12618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900" b="1">
                <a:solidFill>
                  <a:srgbClr val="044F9E"/>
                </a:solidFill>
              </a:rPr>
              <a:t>Vòng đời dữ liệu</a:t>
            </a:r>
          </a:p>
          <a:p>
            <a:pPr algn="l" marL="0" indent="0">
              <a:buNone/>
            </a:pPr>
            <a:r>
              <a:rPr sz="1600" b="0">
                <a:solidFill>
                  <a:srgbClr val="354253"/>
                </a:solidFill>
              </a:rPr>
              <a:t>Hỗ trợ TTL tự xóa dữ liệu cũ và chiến lược nén TimeWindowCompactionStrategy cho chuỗi thời gian.</a:t>
            </a:r>
          </a:p>
        </p:txBody>
      </p:sp>
      <p:sp>
        <p:nvSpPr>
          <p:cNvPr id="11" name="tradeoff"/>
          <p:cNvSpPr/>
          <p:nvPr/>
        </p:nvSpPr>
        <p:spPr>
          <a:xfrm>
            <a:off x="841248" y="5257800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354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303520"/>
            <a:ext cx="1019556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700" b="1">
                <a:solidFill>
                  <a:srgbClr val="FEC01D"/>
                </a:solidFill>
              </a:rPr>
              <a:t>Đánh đổi: </a:t>
            </a:r>
            <a:r>
              <a:rPr sz="1700" b="0">
                <a:solidFill>
                  <a:srgbClr val="FFFFFF"/>
                </a:solidFill>
              </a:rPr>
              <a:t>không có JOIN, phải thiết kế bảng theo truy vấn, nhất quán cuối cùng theo mặc định. Chấp nhận được với dữ liệu cảm biến.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044F9E"/>
                </a:solidFill>
              </a:rPr>
              <a:t>Kiến trúc hệ thống: ba lớp</a:t>
            </a:r>
          </a:p>
        </p:txBody>
      </p:sp>
      <p:sp>
        <p:nvSpPr>
          <p:cNvPr id="3" name="tier-Nguồn "/>
          <p:cNvSpPr/>
          <p:nvPr/>
        </p:nvSpPr>
        <p:spPr>
          <a:xfrm>
            <a:off x="841248" y="1828800"/>
            <a:ext cx="2651760" cy="3749039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1874519"/>
            <a:ext cx="2432304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600" b="1">
                <a:solidFill>
                  <a:srgbClr val="044F9E"/>
                </a:solidFill>
              </a:rPr>
              <a:t>Nguồn dữ liệu giả lập</a:t>
            </a:r>
          </a:p>
        </p:txBody>
      </p:sp>
      <p:sp>
        <p:nvSpPr>
          <p:cNvPr id="5" name="tier-Ứng dụ"/>
          <p:cNvSpPr/>
          <p:nvPr/>
        </p:nvSpPr>
        <p:spPr>
          <a:xfrm>
            <a:off x="4206240" y="1828800"/>
            <a:ext cx="3383280" cy="3749039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15968" y="1874519"/>
            <a:ext cx="3163824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600" b="1">
                <a:solidFill>
                  <a:srgbClr val="044F9E"/>
                </a:solidFill>
              </a:rPr>
              <a:t>Ứng dụng Python (Flask)</a:t>
            </a:r>
          </a:p>
        </p:txBody>
      </p:sp>
      <p:sp>
        <p:nvSpPr>
          <p:cNvPr id="7" name="tier-Astra "/>
          <p:cNvSpPr/>
          <p:nvPr/>
        </p:nvSpPr>
        <p:spPr>
          <a:xfrm>
            <a:off x="8321040" y="1828800"/>
            <a:ext cx="3035808" cy="3749039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0767" y="1874519"/>
            <a:ext cx="281635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600" b="1">
                <a:solidFill>
                  <a:srgbClr val="044F9E"/>
                </a:solidFill>
              </a:rPr>
              <a:t>Astra DB (Cassandra)</a:t>
            </a:r>
          </a:p>
        </p:txBody>
      </p:sp>
      <p:sp>
        <p:nvSpPr>
          <p:cNvPr id="9" name="box-simulator"/>
          <p:cNvSpPr/>
          <p:nvPr/>
        </p:nvSpPr>
        <p:spPr>
          <a:xfrm>
            <a:off x="978408" y="2377440"/>
            <a:ext cx="23774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423160"/>
            <a:ext cx="2194560" cy="96011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500" b="1">
                <a:solidFill>
                  <a:srgbClr val="354253"/>
                </a:solidFill>
              </a:rPr>
              <a:t>simulator.py</a:t>
            </a:r>
          </a:p>
          <a:p>
            <a:pPr algn="l" marL="0" indent="0">
              <a:buNone/>
            </a:pPr>
            <a:r>
              <a:rPr sz="1300" b="0">
                <a:solidFill>
                  <a:srgbClr val="667085"/>
                </a:solidFill>
              </a:rPr>
              <a:t>ghi liên tục 10 cảm biến</a:t>
            </a:r>
          </a:p>
        </p:txBody>
      </p:sp>
      <p:sp>
        <p:nvSpPr>
          <p:cNvPr id="11" name="box-seed"/>
          <p:cNvSpPr/>
          <p:nvPr/>
        </p:nvSpPr>
        <p:spPr>
          <a:xfrm>
            <a:off x="978408" y="3611880"/>
            <a:ext cx="23774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657600"/>
            <a:ext cx="2194560" cy="96011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500" b="1">
                <a:solidFill>
                  <a:srgbClr val="354253"/>
                </a:solidFill>
              </a:rPr>
              <a:t>seed_data.py</a:t>
            </a:r>
          </a:p>
          <a:p>
            <a:pPr algn="l" marL="0" indent="0">
              <a:buNone/>
            </a:pPr>
            <a:r>
              <a:rPr sz="1300" b="0">
                <a:solidFill>
                  <a:srgbClr val="667085"/>
                </a:solidFill>
              </a:rPr>
              <a:t>2.400 bản ghi mẫu</a:t>
            </a:r>
          </a:p>
        </p:txBody>
      </p:sp>
      <p:sp>
        <p:nvSpPr>
          <p:cNvPr id="13" name="box-dashboard"/>
          <p:cNvSpPr/>
          <p:nvPr/>
        </p:nvSpPr>
        <p:spPr>
          <a:xfrm>
            <a:off x="4343400" y="2377440"/>
            <a:ext cx="3108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423160"/>
            <a:ext cx="2926079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500" b="1">
                <a:solidFill>
                  <a:srgbClr val="354253"/>
                </a:solidFill>
              </a:rPr>
              <a:t>Dashboard (index.html)</a:t>
            </a:r>
          </a:p>
          <a:p>
            <a:pPr algn="l" marL="0" indent="0">
              <a:buNone/>
            </a:pPr>
            <a:r>
              <a:rPr sz="1300" b="0">
                <a:solidFill>
                  <a:srgbClr val="667085"/>
                </a:solidFill>
              </a:rPr>
              <a:t>Chart.js, Leaflet</a:t>
            </a:r>
          </a:p>
        </p:txBody>
      </p:sp>
      <p:sp>
        <p:nvSpPr>
          <p:cNvPr id="15" name="box-app"/>
          <p:cNvSpPr/>
          <p:nvPr/>
        </p:nvSpPr>
        <p:spPr>
          <a:xfrm>
            <a:off x="4343400" y="3383280"/>
            <a:ext cx="3108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429000"/>
            <a:ext cx="2926079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500" b="1">
                <a:solidFill>
                  <a:srgbClr val="354253"/>
                </a:solidFill>
              </a:rPr>
              <a:t>app.py</a:t>
            </a:r>
          </a:p>
          <a:p>
            <a:pPr algn="l" marL="0" indent="0">
              <a:buNone/>
            </a:pPr>
            <a:r>
              <a:rPr sz="1300" b="0">
                <a:solidFill>
                  <a:srgbClr val="667085"/>
                </a:solidFill>
              </a:rPr>
              <a:t>Flask REST /api/...</a:t>
            </a:r>
          </a:p>
        </p:txBody>
      </p:sp>
      <p:sp>
        <p:nvSpPr>
          <p:cNvPr id="17" name="box-repo"/>
          <p:cNvSpPr/>
          <p:nvPr/>
        </p:nvSpPr>
        <p:spPr>
          <a:xfrm>
            <a:off x="4343400" y="4389120"/>
            <a:ext cx="3108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4434840"/>
            <a:ext cx="2926079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500" b="1">
                <a:solidFill>
                  <a:srgbClr val="354253"/>
                </a:solidFill>
              </a:rPr>
              <a:t>repo.py</a:t>
            </a:r>
          </a:p>
          <a:p>
            <a:pPr algn="l" marL="0" indent="0">
              <a:buNone/>
            </a:pPr>
            <a:r>
              <a:rPr sz="1300" b="0">
                <a:solidFill>
                  <a:srgbClr val="667085"/>
                </a:solidFill>
              </a:rPr>
              <a:t>prepared statement, query_range</a:t>
            </a:r>
          </a:p>
        </p:txBody>
      </p:sp>
      <p:sp>
        <p:nvSpPr>
          <p:cNvPr id="19" name="box-stations"/>
          <p:cNvSpPr/>
          <p:nvPr/>
        </p:nvSpPr>
        <p:spPr>
          <a:xfrm>
            <a:off x="8458200" y="2377440"/>
            <a:ext cx="2761488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2423160"/>
            <a:ext cx="2578608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500" b="1">
                <a:solidFill>
                  <a:srgbClr val="354253"/>
                </a:solidFill>
              </a:rPr>
              <a:t>stations</a:t>
            </a:r>
          </a:p>
          <a:p>
            <a:pPr algn="l" marL="0" indent="0">
              <a:buNone/>
            </a:pPr>
            <a:r>
              <a:rPr sz="1300" b="0">
                <a:solidFill>
                  <a:srgbClr val="667085"/>
                </a:solidFill>
              </a:rPr>
              <a:t>PK: station_id</a:t>
            </a:r>
          </a:p>
        </p:txBody>
      </p:sp>
      <p:sp>
        <p:nvSpPr>
          <p:cNvPr id="21" name="box-config"/>
          <p:cNvSpPr/>
          <p:nvPr/>
        </p:nvSpPr>
        <p:spPr>
          <a:xfrm>
            <a:off x="8458200" y="3383280"/>
            <a:ext cx="2761488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3429000"/>
            <a:ext cx="2578608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500" b="1">
                <a:solidFill>
                  <a:srgbClr val="354253"/>
                </a:solidFill>
              </a:rPr>
              <a:t>sensor_config</a:t>
            </a:r>
          </a:p>
          <a:p>
            <a:pPr algn="l" marL="0" indent="0">
              <a:buNone/>
            </a:pPr>
            <a:r>
              <a:rPr sz="1300" b="0">
                <a:solidFill>
                  <a:srgbClr val="667085"/>
                </a:solidFill>
              </a:rPr>
              <a:t>PK: station_id, sensor_type</a:t>
            </a:r>
          </a:p>
        </p:txBody>
      </p:sp>
      <p:sp>
        <p:nvSpPr>
          <p:cNvPr id="23" name="box-logs"/>
          <p:cNvSpPr/>
          <p:nvPr/>
        </p:nvSpPr>
        <p:spPr>
          <a:xfrm>
            <a:off x="8458200" y="4389120"/>
            <a:ext cx="2761488" cy="1005840"/>
          </a:xfrm>
          <a:prstGeom prst="roundRect">
            <a:avLst>
              <a:gd name="adj" fmla="val 8000"/>
            </a:avLst>
          </a:prstGeom>
          <a:solidFill>
            <a:srgbClr val="044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4434840"/>
            <a:ext cx="2578608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500" b="1">
                <a:solidFill>
                  <a:srgbClr val="FFFFFF"/>
                </a:solidFill>
              </a:rPr>
              <a:t>sensor_logs</a:t>
            </a:r>
          </a:p>
          <a:p>
            <a:pPr algn="l" marL="0" indent="0">
              <a:buNone/>
            </a:pPr>
            <a:r>
              <a:rPr sz="1300" b="0">
                <a:solidFill>
                  <a:srgbClr val="FFFFFF"/>
                </a:solidFill>
              </a:rPr>
              <a:t>Partition: station_id + ngày</a:t>
            </a:r>
          </a:p>
          <a:p>
            <a:pPr algn="l" marL="0" indent="0">
              <a:buNone/>
            </a:pPr>
            <a:r>
              <a:rPr sz="1300" b="0">
                <a:solidFill>
                  <a:srgbClr val="FFFFFF"/>
                </a:solidFill>
              </a:rPr>
              <a:t>Clustering: ts DESC</a:t>
            </a:r>
          </a:p>
        </p:txBody>
      </p:sp>
      <p:sp>
        <p:nvSpPr>
          <p:cNvPr id="25" name="arrow-write"/>
          <p:cNvSpPr/>
          <p:nvPr/>
        </p:nvSpPr>
        <p:spPr>
          <a:xfrm>
            <a:off x="3566160" y="3566160"/>
            <a:ext cx="566928" cy="457200"/>
          </a:xfrm>
          <a:prstGeom prst="rightArrow">
            <a:avLst/>
          </a:prstGeom>
          <a:solidFill>
            <a:srgbClr val="207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rrow-cql"/>
          <p:cNvSpPr/>
          <p:nvPr/>
        </p:nvSpPr>
        <p:spPr>
          <a:xfrm>
            <a:off x="7662672" y="3566160"/>
            <a:ext cx="566928" cy="457200"/>
          </a:xfrm>
          <a:prstGeom prst="rightArrow">
            <a:avLst/>
          </a:prstGeom>
          <a:solidFill>
            <a:srgbClr val="207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onsole-bar"/>
          <p:cNvSpPr/>
          <p:nvPr/>
        </p:nvSpPr>
        <p:spPr>
          <a:xfrm>
            <a:off x="4206240" y="5760720"/>
            <a:ext cx="7150608" cy="566928"/>
          </a:xfrm>
          <a:prstGeom prst="roundRect">
            <a:avLst>
              <a:gd name="adj" fmla="val 6000"/>
            </a:avLst>
          </a:prstGeom>
          <a:solidFill>
            <a:srgbClr val="FFF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5788152"/>
            <a:ext cx="6903720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400" b="1">
                <a:solidFill>
                  <a:srgbClr val="354253"/>
                </a:solidFill>
              </a:rPr>
              <a:t>CQL Console (CQLSH) trên web Astra: </a:t>
            </a:r>
            <a:r>
              <a:rPr sz="1400" b="0">
                <a:solidFill>
                  <a:srgbClr val="354253"/>
                </a:solidFill>
              </a:rPr>
              <a:t>truy vấn trực tiếp vào cùng keyspace weather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5760720"/>
            <a:ext cx="320040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200" b="0">
                <a:solidFill>
                  <a:srgbClr val="667085"/>
                </a:solidFill>
              </a:rPr>
              <a:t>Kết nối: Secure Connect Bundle + token, LOCAL_QUORUM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044F9E"/>
                </a:solidFill>
              </a:rPr>
              <a:t>Khóa chính cho dữ liệu chuỗi thời gian</a:t>
            </a:r>
          </a:p>
        </p:txBody>
      </p:sp>
      <p:sp>
        <p:nvSpPr>
          <p:cNvPr id="3" name="code-ddl"/>
          <p:cNvSpPr/>
          <p:nvPr/>
        </p:nvSpPr>
        <p:spPr>
          <a:xfrm>
            <a:off x="841248" y="1828800"/>
            <a:ext cx="5577840" cy="3017520"/>
          </a:xfrm>
          <a:prstGeom prst="roundRect">
            <a:avLst>
              <a:gd name="adj" fmla="val 3000"/>
            </a:avLst>
          </a:prstGeom>
          <a:solidFill>
            <a:srgbClr val="354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965960"/>
            <a:ext cx="5212079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400" b="0">
                <a:solidFill>
                  <a:srgbClr val="FFFFFF"/>
                </a:solidFill>
                <a:latin typeface="Consolas"/>
              </a:rPr>
              <a:t>CREATE TABLE sensor_logs (</a:t>
            </a:r>
          </a:p>
          <a:p>
            <a:pPr algn="l" marL="0" indent="0">
              <a:buNone/>
            </a:pPr>
            <a:r>
              <a:rPr sz="1400" b="0">
                <a:solidFill>
                  <a:srgbClr val="FFFFFF"/>
                </a:solidFill>
                <a:latin typeface="Consolas"/>
              </a:rPr>
              <a:t>  station_id   text,</a:t>
            </a:r>
          </a:p>
          <a:p>
            <a:pPr algn="l" marL="0" indent="0">
              <a:buNone/>
            </a:pPr>
            <a:r>
              <a:rPr sz="1400" b="0">
                <a:solidFill>
                  <a:srgbClr val="FFFFFF"/>
                </a:solidFill>
                <a:latin typeface="Consolas"/>
              </a:rPr>
              <a:t>  log_date     date,</a:t>
            </a:r>
          </a:p>
          <a:p>
            <a:pPr algn="l" marL="0" indent="0">
              <a:buNone/>
            </a:pPr>
            <a:r>
              <a:rPr sz="1400" b="0">
                <a:solidFill>
                  <a:srgbClr val="FFFFFF"/>
                </a:solidFill>
                <a:latin typeface="Consolas"/>
              </a:rPr>
              <a:t>  ts           timestamp,</a:t>
            </a:r>
          </a:p>
          <a:p>
            <a:pPr algn="l" marL="0" indent="0">
              <a:buNone/>
            </a:pPr>
            <a:r>
              <a:rPr sz="1400" b="0">
                <a:solidFill>
                  <a:srgbClr val="FFFFFF"/>
                </a:solidFill>
                <a:latin typeface="Consolas"/>
              </a:rPr>
              <a:t>  temperature  double,</a:t>
            </a:r>
          </a:p>
          <a:p>
            <a:pPr algn="l" marL="0" indent="0">
              <a:buNone/>
            </a:pPr>
            <a:r>
              <a:rPr sz="1400" b="0">
                <a:solidFill>
                  <a:srgbClr val="FFFFFF"/>
                </a:solidFill>
                <a:latin typeface="Consolas"/>
              </a:rPr>
              <a:t>  humidity     double,</a:t>
            </a:r>
          </a:p>
          <a:p>
            <a:pPr algn="l" marL="0" indent="0">
              <a:buNone/>
            </a:pPr>
            <a:r>
              <a:rPr sz="1400" b="0">
                <a:solidFill>
                  <a:srgbClr val="FFFFFF"/>
                </a:solidFill>
                <a:latin typeface="Consolas"/>
              </a:rPr>
              <a:t>  pressure     double,</a:t>
            </a:r>
          </a:p>
          <a:p>
            <a:pPr algn="l" marL="0" indent="0">
              <a:buNone/>
            </a:pPr>
            <a:r>
              <a:rPr sz="1400" b="0">
                <a:solidFill>
                  <a:srgbClr val="FFFFFF"/>
                </a:solidFill>
                <a:latin typeface="Consolas"/>
              </a:rPr>
              <a:t>  PRIMARY KEY ((station_id, log_date), ts)</a:t>
            </a:r>
          </a:p>
          <a:p>
            <a:pPr algn="l" marL="0" indent="0">
              <a:buNone/>
            </a:pPr>
            <a:r>
              <a:rPr sz="1400" b="0">
                <a:solidFill>
                  <a:srgbClr val="FFFFFF"/>
                </a:solidFill>
                <a:latin typeface="Consolas"/>
              </a:rPr>
              <a:t>) WITH CLUSTERING ORDER BY (ts DESC);</a:t>
            </a:r>
          </a:p>
        </p:txBody>
      </p:sp>
      <p:sp>
        <p:nvSpPr>
          <p:cNvPr id="5" name="card-partition"/>
          <p:cNvSpPr/>
          <p:nvPr/>
        </p:nvSpPr>
        <p:spPr>
          <a:xfrm>
            <a:off x="6675120" y="1828800"/>
            <a:ext cx="4681728" cy="141732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39712" y="1938528"/>
            <a:ext cx="4352544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800" b="1">
                <a:solidFill>
                  <a:srgbClr val="044F9E"/>
                </a:solidFill>
              </a:rPr>
              <a:t>Partition Key: (station_id, log_date)</a:t>
            </a:r>
          </a:p>
          <a:p>
            <a:pPr algn="l" marL="0" indent="0">
              <a:buNone/>
            </a:pPr>
            <a:r>
              <a:rPr sz="1600" b="0">
                <a:solidFill>
                  <a:srgbClr val="354253"/>
                </a:solidFill>
              </a:rPr>
              <a:t>Mọi truy vấn biết trạm và ngày nên chỉ đọc một partition. Gộp ngày để partition không tăng vô hạn.</a:t>
            </a:r>
          </a:p>
        </p:txBody>
      </p:sp>
      <p:sp>
        <p:nvSpPr>
          <p:cNvPr id="7" name="card-clustering"/>
          <p:cNvSpPr/>
          <p:nvPr/>
        </p:nvSpPr>
        <p:spPr>
          <a:xfrm>
            <a:off x="6675120" y="3429000"/>
            <a:ext cx="4681728" cy="141732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39712" y="3538728"/>
            <a:ext cx="4352544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800" b="1">
                <a:solidFill>
                  <a:srgbClr val="044F9E"/>
                </a:solidFill>
              </a:rPr>
              <a:t>Clustering Key: ts DESC</a:t>
            </a:r>
          </a:p>
          <a:p>
            <a:pPr algn="l" marL="0" indent="0">
              <a:buNone/>
            </a:pPr>
            <a:r>
              <a:rPr sz="1600" b="0">
                <a:solidFill>
                  <a:srgbClr val="354253"/>
                </a:solidFill>
              </a:rPr>
              <a:t>Mới nhất nằm đầu partition; đọc dải thời gian là đọc một đoạn liên tục, không sort ở ứng dụng.</a:t>
            </a:r>
          </a:p>
        </p:txBody>
      </p:sp>
      <p:sp>
        <p:nvSpPr>
          <p:cNvPr id="9" name="partition-size"/>
          <p:cNvSpPr/>
          <p:nvPr/>
        </p:nvSpPr>
        <p:spPr>
          <a:xfrm>
            <a:off x="841248" y="516636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FFF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193792"/>
            <a:ext cx="10195560" cy="8595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800" b="1">
                <a:solidFill>
                  <a:srgbClr val="044F9E"/>
                </a:solidFill>
              </a:rPr>
              <a:t>1.440 dòng/ngày/trạm ≈ 100–150 KB </a:t>
            </a:r>
            <a:r>
              <a:rPr sz="1500" b="0">
                <a:solidFill>
                  <a:srgbClr val="354253"/>
                </a:solidFill>
              </a:rPr>
              <a:t>(1 bản ghi/phút), dưới ngưỡng khuyến nghị ≤ ~100.000 dòng mỗi partition. Cột ts tương ứng timestamp trong barem.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044F9E"/>
                </a:solidFill>
              </a:rPr>
              <a:t>CRUD: từ câu lệnh CQL đến API</a:t>
            </a:r>
          </a:p>
        </p:txBody>
      </p:sp>
      <p:graphicFrame>
        <p:nvGraphicFramePr>
          <p:cNvPr id="3" name="table-crud"/>
          <p:cNvGraphicFramePr>
            <a:graphicFrameLocks noGrp="1"/>
          </p:cNvGraphicFramePr>
          <p:nvPr/>
        </p:nvGraphicFramePr>
        <p:xfrm>
          <a:off x="841248" y="182880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846320"/>
                <a:gridCol w="347472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Chức năng</a:t>
                      </a:r>
                    </a:p>
                  </a:txBody>
                  <a:tcPr anchor="ctr" marL="91440" marR="91440">
                    <a:solidFill>
                      <a:srgbClr val="044F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CQL (repo.py)</a:t>
                      </a:r>
                    </a:p>
                  </a:txBody>
                  <a:tcPr anchor="ctr" marL="91440" marR="91440">
                    <a:solidFill>
                      <a:srgbClr val="044F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API</a:t>
                      </a:r>
                    </a:p>
                  </a:txBody>
                  <a:tcPr anchor="ctr" marL="91440" marR="91440">
                    <a:solidFill>
                      <a:srgbClr val="044F9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54253"/>
                          </a:solidFill>
                        </a:rPr>
                        <a:t>Tạo trạm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54253"/>
                          </a:solidFill>
                          <a:latin typeface="Consolas"/>
                        </a:rPr>
                        <a:t>INSERT INTO stations … IF NOT EXISTS (LWT) + sensor_config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54253"/>
                          </a:solidFill>
                          <a:latin typeface="Consolas"/>
                        </a:rPr>
                        <a:t>POST /api/stations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54253"/>
                          </a:solidFill>
                        </a:rPr>
                        <a:t>Xem, liệt kê</a:t>
                      </a:r>
                    </a:p>
                  </a:txBody>
                  <a:tcPr anchor="ctr" marL="91440" marR="91440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54253"/>
                          </a:solidFill>
                          <a:latin typeface="Consolas"/>
                        </a:rPr>
                        <a:t>SELECT * FROM stations</a:t>
                      </a:r>
                    </a:p>
                  </a:txBody>
                  <a:tcPr anchor="ctr" marL="91440" marR="91440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54253"/>
                          </a:solidFill>
                          <a:latin typeface="Consolas"/>
                        </a:rPr>
                        <a:t>GET /api/stations, /api/overview</a:t>
                      </a:r>
                    </a:p>
                  </a:txBody>
                  <a:tcPr anchor="ctr" marL="91440" marR="91440">
                    <a:solidFill>
                      <a:srgbClr val="EAF3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54253"/>
                          </a:solidFill>
                        </a:rPr>
                        <a:t>Sửa trạm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54253"/>
                          </a:solidFill>
                          <a:latin typeface="Consolas"/>
                        </a:rPr>
                        <a:t>UPDATE stations … IF EXISTS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54253"/>
                          </a:solidFill>
                          <a:latin typeface="Consolas"/>
                        </a:rPr>
                        <a:t>PUT /api/stations/&lt;id&gt;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54253"/>
                          </a:solidFill>
                        </a:rPr>
                        <a:t>Xóa trạm</a:t>
                      </a:r>
                    </a:p>
                  </a:txBody>
                  <a:tcPr anchor="ctr" marL="91440" marR="91440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54253"/>
                          </a:solidFill>
                          <a:latin typeface="Consolas"/>
                        </a:rPr>
                        <a:t>DELETE stations, sensor_config, log 14 ngày gần nhất</a:t>
                      </a:r>
                    </a:p>
                  </a:txBody>
                  <a:tcPr anchor="ctr" marL="91440" marR="91440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54253"/>
                          </a:solidFill>
                          <a:latin typeface="Consolas"/>
                        </a:rPr>
                        <a:t>DELETE /api/stations/&lt;id&gt;</a:t>
                      </a:r>
                    </a:p>
                  </a:txBody>
                  <a:tcPr anchor="ctr" marL="91440" marR="91440">
                    <a:solidFill>
                      <a:srgbClr val="EAF3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54253"/>
                          </a:solidFill>
                        </a:rPr>
                        <a:t>Cấu hình cảm biến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54253"/>
                          </a:solidFill>
                          <a:latin typeface="Consolas"/>
                        </a:rPr>
                        <a:t>INSERT INTO sensor_config … (upsert)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54253"/>
                          </a:solidFill>
                          <a:latin typeface="Consolas"/>
                        </a:rPr>
                        <a:t>PUT /api/stations/&lt;id&gt;/sensors/&lt;loại&gt;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54253"/>
                          </a:solidFill>
                        </a:rPr>
                        <a:t>Ghi log đo</a:t>
                      </a:r>
                    </a:p>
                  </a:txBody>
                  <a:tcPr anchor="ctr" marL="91440" marR="91440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54253"/>
                          </a:solidFill>
                          <a:latin typeface="Consolas"/>
                        </a:rPr>
                        <a:t>INSERT INTO sensor_logs … VALUES (?,?,?,?,?,?)</a:t>
                      </a:r>
                    </a:p>
                  </a:txBody>
                  <a:tcPr anchor="ctr" marL="91440" marR="91440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54253"/>
                          </a:solidFill>
                          <a:latin typeface="Consolas"/>
                        </a:rPr>
                        <a:t>POST /api/logs</a:t>
                      </a:r>
                    </a:p>
                  </a:txBody>
                  <a:tcPr anchor="ctr" marL="91440" marR="91440">
                    <a:solidFill>
                      <a:srgbClr val="EAF3F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" y="585216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400" b="0">
                <a:solidFill>
                  <a:srgbClr val="667085"/>
                </a:solidFill>
              </a:rPr>
              <a:t>Prepared statement cho mọi truy vấn lặp lại · ghi hàng loạt song song bằng execute_concurrent_with_args · LWT chỉ dùng khi tạo trạm, không dùng khi ghi log.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044F9E"/>
                </a:solidFill>
              </a:rPr>
              <a:t>Truy vấn dải thời gian: một partition, không sort</a:t>
            </a:r>
          </a:p>
        </p:txBody>
      </p:sp>
      <p:sp>
        <p:nvSpPr>
          <p:cNvPr id="3" name="code-range"/>
          <p:cNvSpPr/>
          <p:nvPr/>
        </p:nvSpPr>
        <p:spPr>
          <a:xfrm>
            <a:off x="841248" y="1828800"/>
            <a:ext cx="6126480" cy="2331720"/>
          </a:xfrm>
          <a:prstGeom prst="roundRect">
            <a:avLst>
              <a:gd name="adj" fmla="val 3000"/>
            </a:avLst>
          </a:prstGeom>
          <a:solidFill>
            <a:srgbClr val="354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965960"/>
            <a:ext cx="5760720" cy="2057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400" b="0">
                <a:solidFill>
                  <a:srgbClr val="FFFFFF"/>
                </a:solidFill>
                <a:latin typeface="Consolas"/>
              </a:rPr>
              <a:t>SELECT station_id, log_date, ts,</a:t>
            </a:r>
          </a:p>
          <a:p>
            <a:pPr algn="l" marL="0" indent="0">
              <a:buNone/>
            </a:pPr>
            <a:r>
              <a:rPr sz="1400" b="0">
                <a:solidFill>
                  <a:srgbClr val="FFFFFF"/>
                </a:solidFill>
                <a:latin typeface="Consolas"/>
              </a:rPr>
              <a:t>       temperature, humidity, pressure</a:t>
            </a:r>
          </a:p>
          <a:p>
            <a:pPr algn="l" marL="0" indent="0">
              <a:buNone/>
            </a:pPr>
            <a:r>
              <a:rPr sz="1400" b="0">
                <a:solidFill>
                  <a:srgbClr val="FFFFFF"/>
                </a:solidFill>
                <a:latin typeface="Consolas"/>
              </a:rPr>
              <a:t>FROM sensor_logs</a:t>
            </a:r>
          </a:p>
          <a:p>
            <a:pPr algn="l" marL="0" indent="0">
              <a:buNone/>
            </a:pPr>
            <a:r>
              <a:rPr sz="1400" b="0">
                <a:solidFill>
                  <a:srgbClr val="FFFFFF"/>
                </a:solidFill>
                <a:latin typeface="Consolas"/>
              </a:rPr>
              <a:t>WHERE station_id = 'ST01'</a:t>
            </a:r>
          </a:p>
          <a:p>
            <a:pPr algn="l" marL="0" indent="0">
              <a:buNone/>
            </a:pPr>
            <a:r>
              <a:rPr sz="1400" b="0">
                <a:solidFill>
                  <a:srgbClr val="FFFFFF"/>
                </a:solidFill>
                <a:latin typeface="Consolas"/>
              </a:rPr>
              <a:t>  AND log_date   = '2026-10-21'</a:t>
            </a:r>
          </a:p>
          <a:p>
            <a:pPr algn="l" marL="0" indent="0">
              <a:buNone/>
            </a:pPr>
            <a:r>
              <a:rPr sz="1400" b="0">
                <a:solidFill>
                  <a:srgbClr val="FFFFFF"/>
                </a:solidFill>
                <a:latin typeface="Consolas"/>
              </a:rPr>
              <a:t>  AND ts &gt;= '2026-10-21 05:10:40+0000'</a:t>
            </a:r>
          </a:p>
          <a:p>
            <a:pPr algn="l" marL="0" indent="0">
              <a:buNone/>
            </a:pPr>
            <a:r>
              <a:rPr sz="1400" b="0">
                <a:solidFill>
                  <a:srgbClr val="FFFFFF"/>
                </a:solidFill>
                <a:latin typeface="Consolas"/>
              </a:rPr>
              <a:t>  AND ts &lt;= '2026-10-21 07:10:40+0000';</a:t>
            </a:r>
          </a:p>
        </p:txBody>
      </p:sp>
      <p:sp>
        <p:nvSpPr>
          <p:cNvPr id="5" name="result-strip"/>
          <p:cNvSpPr/>
          <p:nvPr/>
        </p:nvSpPr>
        <p:spPr>
          <a:xfrm>
            <a:off x="841248" y="4343400"/>
            <a:ext cx="6126480" cy="86868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370832"/>
            <a:ext cx="589788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500" b="1">
                <a:solidFill>
                  <a:srgbClr val="044F9E"/>
                </a:solidFill>
              </a:rPr>
              <a:t>Kết quả thật: </a:t>
            </a:r>
            <a:r>
              <a:rPr sz="1500" b="0">
                <a:solidFill>
                  <a:srgbClr val="354253"/>
                </a:solidFill>
              </a:rPr>
              <a:t>28 dòng, từ 07:09:56 về 05:15:00, đã sắp xếp mới → cũ mà không dùng ORDER BY.</a:t>
            </a:r>
          </a:p>
        </p:txBody>
      </p:sp>
      <p:sp>
        <p:nvSpPr>
          <p:cNvPr id="7" name="avoid-strip"/>
          <p:cNvSpPr/>
          <p:nvPr/>
        </p:nvSpPr>
        <p:spPr>
          <a:xfrm>
            <a:off x="841248" y="5394960"/>
            <a:ext cx="6126480" cy="868680"/>
          </a:xfrm>
          <a:prstGeom prst="roundRect">
            <a:avLst>
              <a:gd name="adj" fmla="val 6000"/>
            </a:avLst>
          </a:prstGeom>
          <a:solidFill>
            <a:srgbClr val="FFF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422392"/>
            <a:ext cx="589788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500" b="1">
                <a:solidFill>
                  <a:srgbClr val="E81F26"/>
                </a:solidFill>
              </a:rPr>
              <a:t>Không nên: </a:t>
            </a:r>
            <a:r>
              <a:rPr sz="1500" b="0">
                <a:solidFill>
                  <a:srgbClr val="354253"/>
                </a:solidFill>
              </a:rPr>
              <a:t>thiếu log_date (cần ALLOW FILTERING), lọc theo cột thường, COUNT(*) toàn bảng.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828800"/>
            <a:ext cx="4087368" cy="4480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1">
                <a:solidFill>
                  <a:srgbClr val="2072B7"/>
                </a:solidFill>
              </a:rPr>
              <a:t>Vì sao hiệu quả</a:t>
            </a:r>
          </a:p>
          <a:p>
            <a:pPr algn="l" marL="285750" indent="-285750">
              <a:spcAft>
                <a:spcPts val="600"/>
              </a:spcAft>
              <a:buChar char="•"/>
            </a:pPr>
            <a:r>
              <a:rPr sz="1700" b="0">
                <a:solidFill>
                  <a:srgbClr val="354253"/>
                </a:solidFill>
              </a:rPr>
              <a:t>station_id và log_date xác định đúng một partition</a:t>
            </a:r>
          </a:p>
          <a:p>
            <a:pPr algn="l" marL="285750" indent="-285750">
              <a:spcAft>
                <a:spcPts val="600"/>
              </a:spcAft>
              <a:buChar char="•"/>
            </a:pPr>
            <a:r>
              <a:rPr sz="1700" b="0">
                <a:solidFill>
                  <a:srgbClr val="354253"/>
                </a:solidFill>
              </a:rPr>
              <a:t>ts là range trên Clustering Key: đọc một đoạn liên tục</a:t>
            </a:r>
          </a:p>
          <a:p>
            <a:pPr algn="l" marL="285750" indent="-285750">
              <a:spcAft>
                <a:spcPts val="600"/>
              </a:spcAft>
              <a:buChar char="•"/>
            </a:pPr>
            <a:r>
              <a:rPr sz="1700" b="0">
                <a:solidFill>
                  <a:srgbClr val="354253"/>
                </a:solidFill>
              </a:rPr>
              <a:t>CQL không có BETWEEN: dùng &gt;= và &lt;=</a:t>
            </a:r>
          </a:p>
          <a:p>
            <a:pPr algn="l" marL="285750" indent="-285750">
              <a:spcAft>
                <a:spcPts val="600"/>
              </a:spcAft>
              <a:buChar char="•"/>
            </a:pPr>
            <a:r>
              <a:rPr sz="1700" b="0">
                <a:solidFill>
                  <a:srgbClr val="354253"/>
                </a:solidFill>
              </a:rPr>
              <a:t>Vắt qua nửa đêm UTC: log_date IN (…) hoặc truy vấn từng ngày</a:t>
            </a:r>
          </a:p>
          <a:p>
            <a:pPr algn="l" marL="285750" indent="-285750">
              <a:spcAft>
                <a:spcPts val="600"/>
              </a:spcAft>
              <a:buChar char="•"/>
            </a:pPr>
            <a:r>
              <a:rPr sz="1700" b="0">
                <a:solidFill>
                  <a:srgbClr val="354253"/>
                </a:solidFill>
              </a:rPr>
              <a:t>ORDER BY ts ASC: đọc ngược để vẽ biểu đồ cũ → mới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044F9E"/>
                </a:solidFill>
              </a:rPr>
              <a:t>Web dashboard thời gian thực</a:t>
            </a:r>
          </a:p>
        </p:txBody>
      </p:sp>
      <p:sp>
        <p:nvSpPr>
          <p:cNvPr id="3" name="tile-1"/>
          <p:cNvSpPr/>
          <p:nvPr/>
        </p:nvSpPr>
        <p:spPr>
          <a:xfrm>
            <a:off x="841248" y="182880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38528"/>
            <a:ext cx="2962656" cy="16093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800" b="1">
                <a:solidFill>
                  <a:srgbClr val="044F9E"/>
                </a:solidFill>
              </a:rPr>
              <a:t>Biểu đồ đường thời gian thực</a:t>
            </a:r>
          </a:p>
          <a:p>
            <a:pPr algn="l" marL="0" indent="0">
              <a:buNone/>
            </a:pPr>
            <a:r>
              <a:rPr sz="1600" b="0">
                <a:solidFill>
                  <a:srgbClr val="354253"/>
                </a:solidFill>
              </a:rPr>
              <a:t>3 chỉ số trên trục thời gian thật, tự làm mới 2 giây, có đường ngưỡng nét đứt.</a:t>
            </a:r>
          </a:p>
        </p:txBody>
      </p:sp>
      <p:sp>
        <p:nvSpPr>
          <p:cNvPr id="5" name="tile-2"/>
          <p:cNvSpPr/>
          <p:nvPr/>
        </p:nvSpPr>
        <p:spPr>
          <a:xfrm>
            <a:off x="4453128" y="182880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938528"/>
            <a:ext cx="2962656" cy="16093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800" b="1">
                <a:solidFill>
                  <a:srgbClr val="044F9E"/>
                </a:solidFill>
              </a:rPr>
              <a:t>Thẻ chỉ số và cảnh báo</a:t>
            </a:r>
          </a:p>
          <a:p>
            <a:pPr algn="l" marL="0" indent="0">
              <a:buNone/>
            </a:pPr>
            <a:r>
              <a:rPr sz="1600" b="0">
                <a:solidFill>
                  <a:srgbClr val="354253"/>
                </a:solidFill>
              </a:rPr>
              <a:t>Giá trị hiện tại, xu hướng, min / TB / max; tô đỏ khi vượt ngưỡng.</a:t>
            </a:r>
          </a:p>
        </p:txBody>
      </p:sp>
      <p:sp>
        <p:nvSpPr>
          <p:cNvPr id="7" name="tile-3"/>
          <p:cNvSpPr/>
          <p:nvPr/>
        </p:nvSpPr>
        <p:spPr>
          <a:xfrm>
            <a:off x="8065008" y="182880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938528"/>
            <a:ext cx="2962656" cy="16093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800" b="1">
                <a:solidFill>
                  <a:srgbClr val="044F9E"/>
                </a:solidFill>
              </a:rPr>
              <a:t>Bản đồ các trạm</a:t>
            </a:r>
          </a:p>
          <a:p>
            <a:pPr algn="l" marL="0" indent="0">
              <a:buNone/>
            </a:pPr>
            <a:r>
              <a:rPr sz="1600" b="0">
                <a:solidFill>
                  <a:srgbClr val="354253"/>
                </a:solidFill>
              </a:rPr>
              <a:t>Leaflet + OpenStreetMap, màu theo nhiệt độ, bấm để chọn trạm.</a:t>
            </a:r>
          </a:p>
        </p:txBody>
      </p:sp>
      <p:sp>
        <p:nvSpPr>
          <p:cNvPr id="9" name="tile-4"/>
          <p:cNvSpPr/>
          <p:nvPr/>
        </p:nvSpPr>
        <p:spPr>
          <a:xfrm>
            <a:off x="841248" y="384048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50208"/>
            <a:ext cx="2962656" cy="16093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800" b="1">
                <a:solidFill>
                  <a:srgbClr val="044F9E"/>
                </a:solidFill>
              </a:rPr>
              <a:t>Tạo trạm trên bản đồ</a:t>
            </a:r>
          </a:p>
          <a:p>
            <a:pPr algn="l" marL="0" indent="0">
              <a:buNone/>
            </a:pPr>
            <a:r>
              <a:rPr sz="1600" b="0">
                <a:solidFill>
                  <a:srgbClr val="354253"/>
                </a:solidFill>
              </a:rPr>
              <a:t>Bấm lên bản đồ hoặc tìm thành phố, tọa độ tự điền; trạm mới có sẵn 4 giờ lịch sử.</a:t>
            </a:r>
          </a:p>
        </p:txBody>
      </p:sp>
      <p:sp>
        <p:nvSpPr>
          <p:cNvPr id="11" name="tile-5"/>
          <p:cNvSpPr/>
          <p:nvPr/>
        </p:nvSpPr>
        <p:spPr>
          <a:xfrm>
            <a:off x="4453128" y="384048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3950208"/>
            <a:ext cx="2962656" cy="16093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800" b="1">
                <a:solidFill>
                  <a:srgbClr val="044F9E"/>
                </a:solidFill>
              </a:rPr>
              <a:t>Trạng thái trạm</a:t>
            </a:r>
          </a:p>
          <a:p>
            <a:pPr algn="l" marL="0" indent="0">
              <a:buNone/>
            </a:pPr>
            <a:r>
              <a:rPr sz="1600" b="0">
                <a:solidFill>
                  <a:srgbClr val="354253"/>
                </a:solidFill>
              </a:rPr>
              <a:t>Hoạt động, Mất kết nối (quá 2 phút), Chưa có dữ liệu.</a:t>
            </a:r>
          </a:p>
        </p:txBody>
      </p:sp>
      <p:sp>
        <p:nvSpPr>
          <p:cNvPr id="13" name="tile-6"/>
          <p:cNvSpPr/>
          <p:nvPr/>
        </p:nvSpPr>
        <p:spPr>
          <a:xfrm>
            <a:off x="8065008" y="384048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950208"/>
            <a:ext cx="2962656" cy="16093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800" b="1">
                <a:solidFill>
                  <a:srgbClr val="044F9E"/>
                </a:solidFill>
              </a:rPr>
              <a:t>Độ trễ truy vấn (ms)</a:t>
            </a:r>
          </a:p>
          <a:p>
            <a:pPr algn="l" marL="0" indent="0">
              <a:buNone/>
            </a:pPr>
            <a:r>
              <a:rPr sz="1600" b="0">
                <a:solidFill>
                  <a:srgbClr val="354253"/>
                </a:solidFill>
              </a:rPr>
              <a:t>Biểu đồ thời gian truy vấn Cassandra theo từng lần làm mới.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9436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400" b="0">
                <a:solidFill>
                  <a:srgbClr val="667085"/>
                </a:solidFill>
              </a:rPr>
              <a:t>Mọi biểu đồ đọc từ Astra qua API /api/logs; thời gian truy vấn (ms) hiển thị ngay trên giao diện.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044F9E"/>
                </a:solidFill>
              </a:rPr>
              <a:t>Kiểm thử và hiệu năng</a:t>
            </a:r>
          </a:p>
        </p:txBody>
      </p:sp>
      <p:graphicFrame>
        <p:nvGraphicFramePr>
          <p:cNvPr id="3" name="chart-throughput"/>
          <p:cNvGraphicFramePr>
            <a:graphicFrameLocks noGrp="1"/>
          </p:cNvGraphicFramePr>
          <p:nvPr/>
        </p:nvGraphicFramePr>
        <p:xfrm>
          <a:off x="841248" y="1828800"/>
          <a:ext cx="548640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table-latency"/>
          <p:cNvGraphicFramePr>
            <a:graphicFrameLocks noGrp="1"/>
          </p:cNvGraphicFramePr>
          <p:nvPr/>
        </p:nvGraphicFramePr>
        <p:xfrm>
          <a:off x="6675120" y="1828800"/>
          <a:ext cx="4681728" cy="1719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280160"/>
                <a:gridCol w="1280160"/>
                <a:gridCol w="1024128"/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Luồng</a:t>
                      </a:r>
                    </a:p>
                  </a:txBody>
                  <a:tcPr anchor="ctr">
                    <a:solidFill>
                      <a:srgbClr val="044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TB (ms)</a:t>
                      </a:r>
                    </a:p>
                  </a:txBody>
                  <a:tcPr anchor="ctr">
                    <a:solidFill>
                      <a:srgbClr val="044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p95 (ms)</a:t>
                      </a:r>
                    </a:p>
                  </a:txBody>
                  <a:tcPr anchor="ctr">
                    <a:solidFill>
                      <a:srgbClr val="044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Lỗi</a:t>
                      </a:r>
                    </a:p>
                  </a:txBody>
                  <a:tcPr anchor="ctr">
                    <a:solidFill>
                      <a:srgbClr val="044F9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54253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54253"/>
                          </a:solidFill>
                        </a:rPr>
                        <a:t>675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54253"/>
                          </a:solidFill>
                        </a:rPr>
                        <a:t>1.136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54253"/>
                          </a:solidFill>
                        </a:rPr>
                        <a:t>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54253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54253"/>
                          </a:solidFill>
                        </a:rPr>
                        <a:t>923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54253"/>
                          </a:solidFill>
                        </a:rPr>
                        <a:t>1.530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54253"/>
                          </a:solidFill>
                        </a:rPr>
                        <a:t>0%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54253"/>
                          </a:solidFill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54253"/>
                          </a:solidFill>
                        </a:rPr>
                        <a:t>1.375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54253"/>
                          </a:solidFill>
                        </a:rPr>
                        <a:t>2.324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54253"/>
                          </a:solidFill>
                        </a:rPr>
                        <a:t>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75120" y="3749039"/>
            <a:ext cx="4681728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marL="285750" indent="-285750">
              <a:spcAft>
                <a:spcPts val="600"/>
              </a:spcAft>
              <a:buChar char="•"/>
            </a:pPr>
            <a:r>
              <a:rPr sz="1600" b="0">
                <a:solidFill>
                  <a:srgbClr val="354253"/>
                </a:solidFill>
              </a:rPr>
              <a:t>Nạp 2.400 bản ghi mẫu trong 31 s (≈ 77 bản ghi/giây)</a:t>
            </a:r>
          </a:p>
          <a:p>
            <a:pPr algn="l" marL="285750" indent="-285750">
              <a:spcAft>
                <a:spcPts val="600"/>
              </a:spcAft>
              <a:buChar char="•"/>
            </a:pPr>
            <a:r>
              <a:rPr sz="1600" b="0">
                <a:solidFill>
                  <a:srgbClr val="354253"/>
                </a:solidFill>
              </a:rPr>
              <a:t>Truy vấn 2 giờ (107 dòng): trung bình 741 ms</a:t>
            </a:r>
          </a:p>
          <a:p>
            <a:pPr algn="l" marL="285750" indent="-285750">
              <a:spcAft>
                <a:spcPts val="600"/>
              </a:spcAft>
              <a:buChar char="•"/>
            </a:pPr>
            <a:r>
              <a:rPr sz="1600" b="0">
                <a:solidFill>
                  <a:srgbClr val="354253"/>
                </a:solidFill>
              </a:rPr>
              <a:t>Mỗi luồng ghi 40 bản ghi tuần tự, LOCAL_QUORUM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89788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300" b="0">
                <a:solidFill>
                  <a:srgbClr val="667085"/>
                </a:solidFill>
              </a:rPr>
              <a:t>Độ trễ gồm mạng Việt Nam – AWS us-east-2 và giới hạn gói miễn phí, không phản ánh tốc độ nội tại của Cassandra.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044F9E"/>
                </a:solidFill>
              </a:rPr>
              <a:t>Kịch bản demo</a:t>
            </a:r>
          </a:p>
        </p:txBody>
      </p:sp>
      <p:sp>
        <p:nvSpPr>
          <p:cNvPr id="3" name="step-1"/>
          <p:cNvSpPr/>
          <p:nvPr/>
        </p:nvSpPr>
        <p:spPr>
          <a:xfrm>
            <a:off x="841248" y="1828800"/>
            <a:ext cx="3291840" cy="306324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ep-num-1"/>
          <p:cNvSpPr/>
          <p:nvPr/>
        </p:nvSpPr>
        <p:spPr>
          <a:xfrm>
            <a:off x="1005840" y="1965960"/>
            <a:ext cx="566928" cy="566928"/>
          </a:xfrm>
          <a:prstGeom prst="ellipse">
            <a:avLst/>
          </a:prstGeom>
          <a:solidFill>
            <a:srgbClr val="044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9928" y="1965960"/>
            <a:ext cx="228600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400" b="1">
                <a:solidFill>
                  <a:srgbClr val="2072B7"/>
                </a:solidFill>
              </a:rPr>
              <a:t>SV3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971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800" b="1">
                <a:solidFill>
                  <a:srgbClr val="044F9E"/>
                </a:solidFill>
              </a:rPr>
              <a:t>Giả lập cảm biến</a:t>
            </a:r>
          </a:p>
        </p:txBody>
      </p:sp>
      <p:sp>
        <p:nvSpPr>
          <p:cNvPr id="7" name="cmd-1"/>
          <p:cNvSpPr/>
          <p:nvPr/>
        </p:nvSpPr>
        <p:spPr>
          <a:xfrm>
            <a:off x="1005840" y="3154680"/>
            <a:ext cx="2971800" cy="566928"/>
          </a:xfrm>
          <a:prstGeom prst="roundRect">
            <a:avLst>
              <a:gd name="adj" fmla="val 10000"/>
            </a:avLst>
          </a:prstGeom>
          <a:solidFill>
            <a:srgbClr val="354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3172968"/>
            <a:ext cx="2898648" cy="5303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100" b="0">
                <a:solidFill>
                  <a:srgbClr val="FFFFFF"/>
                </a:solidFill>
                <a:latin typeface="Consolas"/>
              </a:rPr>
              <a:t>python simulator.py --rounds 12 --interval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29718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400" b="0">
                <a:solidFill>
                  <a:srgbClr val="354253"/>
                </a:solidFill>
              </a:rPr>
              <a:t>10 cảm biến gửi liên tục, 120 bản ghi; log in thời gian ghi mỗi vòng.</a:t>
            </a:r>
          </a:p>
        </p:txBody>
      </p:sp>
      <p:sp>
        <p:nvSpPr>
          <p:cNvPr id="10" name="step-2"/>
          <p:cNvSpPr/>
          <p:nvPr/>
        </p:nvSpPr>
        <p:spPr>
          <a:xfrm>
            <a:off x="4453128" y="1828800"/>
            <a:ext cx="3291840" cy="306324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ep-num-2"/>
          <p:cNvSpPr/>
          <p:nvPr/>
        </p:nvSpPr>
        <p:spPr>
          <a:xfrm>
            <a:off x="4617720" y="1965960"/>
            <a:ext cx="566928" cy="566928"/>
          </a:xfrm>
          <a:prstGeom prst="ellipse">
            <a:avLst/>
          </a:prstGeom>
          <a:solidFill>
            <a:srgbClr val="044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1808" y="1965960"/>
            <a:ext cx="228600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400" b="1">
                <a:solidFill>
                  <a:srgbClr val="2072B7"/>
                </a:solidFill>
              </a:rPr>
              <a:t>SV2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51760"/>
            <a:ext cx="2971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800" b="1">
                <a:solidFill>
                  <a:srgbClr val="044F9E"/>
                </a:solidFill>
              </a:rPr>
              <a:t>Truy vấn CQL trên Astra</a:t>
            </a:r>
          </a:p>
        </p:txBody>
      </p:sp>
      <p:sp>
        <p:nvSpPr>
          <p:cNvPr id="14" name="cmd-2"/>
          <p:cNvSpPr/>
          <p:nvPr/>
        </p:nvSpPr>
        <p:spPr>
          <a:xfrm>
            <a:off x="4617720" y="3154680"/>
            <a:ext cx="2971800" cy="566928"/>
          </a:xfrm>
          <a:prstGeom prst="roundRect">
            <a:avLst>
              <a:gd name="adj" fmla="val 10000"/>
            </a:avLst>
          </a:prstGeom>
          <a:solidFill>
            <a:srgbClr val="354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4296" y="3172968"/>
            <a:ext cx="2898648" cy="5303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100" b="0">
                <a:solidFill>
                  <a:srgbClr val="FFFFFF"/>
                </a:solidFill>
                <a:latin typeface="Consolas"/>
              </a:rPr>
              <a:t>python demo_query.py ST01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840480"/>
            <a:ext cx="29718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400" b="0">
                <a:solidFill>
                  <a:srgbClr val="354253"/>
                </a:solidFill>
              </a:rPr>
              <a:t>Dán câu CQL vào CQL Console: lọc 2 giờ qua, mới → cũ, không sort.</a:t>
            </a:r>
          </a:p>
        </p:txBody>
      </p:sp>
      <p:sp>
        <p:nvSpPr>
          <p:cNvPr id="17" name="step-3"/>
          <p:cNvSpPr/>
          <p:nvPr/>
        </p:nvSpPr>
        <p:spPr>
          <a:xfrm>
            <a:off x="8065008" y="1828800"/>
            <a:ext cx="3291840" cy="306324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ep-num-3"/>
          <p:cNvSpPr/>
          <p:nvPr/>
        </p:nvSpPr>
        <p:spPr>
          <a:xfrm>
            <a:off x="8229600" y="1965960"/>
            <a:ext cx="566928" cy="566928"/>
          </a:xfrm>
          <a:prstGeom prst="ellipse">
            <a:avLst/>
          </a:prstGeom>
          <a:solidFill>
            <a:srgbClr val="044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1965960"/>
            <a:ext cx="228600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400" b="1">
                <a:solidFill>
                  <a:srgbClr val="2072B7"/>
                </a:solidFill>
              </a:rPr>
              <a:t>SV1 + SV3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51760"/>
            <a:ext cx="2971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800" b="1">
                <a:solidFill>
                  <a:srgbClr val="044F9E"/>
                </a:solidFill>
              </a:rPr>
              <a:t>Dashboard thời gian thực</a:t>
            </a:r>
          </a:p>
        </p:txBody>
      </p:sp>
      <p:sp>
        <p:nvSpPr>
          <p:cNvPr id="21" name="cmd-3"/>
          <p:cNvSpPr/>
          <p:nvPr/>
        </p:nvSpPr>
        <p:spPr>
          <a:xfrm>
            <a:off x="8229600" y="3154680"/>
            <a:ext cx="2971800" cy="566928"/>
          </a:xfrm>
          <a:prstGeom prst="roundRect">
            <a:avLst>
              <a:gd name="adj" fmla="val 10000"/>
            </a:avLst>
          </a:prstGeom>
          <a:solidFill>
            <a:srgbClr val="354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3172968"/>
            <a:ext cx="2898648" cy="5303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100" b="0">
                <a:solidFill>
                  <a:srgbClr val="FFFFFF"/>
                </a:solidFill>
                <a:latin typeface="Consolas"/>
              </a:rPr>
              <a:t>http://localhost:5000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840480"/>
            <a:ext cx="29718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400" b="0">
                <a:solidFill>
                  <a:srgbClr val="354253"/>
                </a:solidFill>
              </a:rPr>
              <a:t>Chọn 30 phút qua, tự làm mới 2 giây; biểu đồ kéo dài, hiện ms truy vấn.</a:t>
            </a:r>
          </a:p>
        </p:txBody>
      </p:sp>
      <p:sp>
        <p:nvSpPr>
          <p:cNvPr id="24" name="extras"/>
          <p:cNvSpPr/>
          <p:nvPr/>
        </p:nvSpPr>
        <p:spPr>
          <a:xfrm>
            <a:off x="841248" y="5120640"/>
            <a:ext cx="10515600" cy="59436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138928"/>
            <a:ext cx="102870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400" b="1">
                <a:solidFill>
                  <a:srgbClr val="044F9E"/>
                </a:solidFill>
              </a:rPr>
              <a:t>Thêm: </a:t>
            </a:r>
            <a:r>
              <a:rPr sz="1400" b="0">
                <a:solidFill>
                  <a:srgbClr val="354253"/>
                </a:solidFill>
              </a:rPr>
              <a:t>tạo trạm trên bản đồ · ghi log thủ công · cấu hình cảm biến · xóa trạm · DESCRIBE KEYSPACE · COUNT(*) theo partition</a:t>
            </a:r>
          </a:p>
        </p:txBody>
      </p:sp>
      <p:sp>
        <p:nvSpPr>
          <p:cNvPr id="26" name="prep"/>
          <p:cNvSpPr/>
          <p:nvPr/>
        </p:nvSpPr>
        <p:spPr>
          <a:xfrm>
            <a:off x="841248" y="5852160"/>
            <a:ext cx="10515600" cy="548640"/>
          </a:xfrm>
          <a:prstGeom prst="roundRect">
            <a:avLst>
              <a:gd name="adj" fmla="val 6000"/>
            </a:avLst>
          </a:prstGeom>
          <a:solidFill>
            <a:srgbClr val="FFF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870448"/>
            <a:ext cx="10287000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 marL="0" indent="0">
              <a:buNone/>
            </a:pPr>
            <a:r>
              <a:rPr sz="1400" b="1">
                <a:solidFill>
                  <a:srgbClr val="354253"/>
                </a:solidFill>
              </a:rPr>
              <a:t>Trước demo: </a:t>
            </a:r>
            <a:r>
              <a:rPr sz="1400" b="0">
                <a:solidFill>
                  <a:srgbClr val="354253"/>
                </a:solidFill>
              </a:rPr>
              <a:t>bấm Resume trên Astra; chạy python app.py --no-sim để tránh hai luồng ghi chồng nhau.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044F9E"/>
                </a:solidFill>
              </a:rPr>
              <a:t>Phân công, hạn chế và hướng phát triển</a:t>
            </a:r>
          </a:p>
        </p:txBody>
      </p:sp>
      <p:graphicFrame>
        <p:nvGraphicFramePr>
          <p:cNvPr id="3" name="table-team"/>
          <p:cNvGraphicFramePr>
            <a:graphicFrameLocks noGrp="1"/>
          </p:cNvGraphicFramePr>
          <p:nvPr/>
        </p:nvGraphicFramePr>
        <p:xfrm>
          <a:off x="841248" y="1828800"/>
          <a:ext cx="63093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194560"/>
                <a:gridCol w="256032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Thành viên</a:t>
                      </a:r>
                    </a:p>
                  </a:txBody>
                  <a:tcPr anchor="ctr" marL="91440" marR="91440">
                    <a:solidFill>
                      <a:srgbClr val="044F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Vai trò</a:t>
                      </a:r>
                    </a:p>
                  </a:txBody>
                  <a:tcPr anchor="ctr" marL="91440" marR="91440">
                    <a:solidFill>
                      <a:srgbClr val="044F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Sản phẩm</a:t>
                      </a:r>
                    </a:p>
                  </a:txBody>
                  <a:tcPr anchor="ctr" marL="91440" marR="91440">
                    <a:solidFill>
                      <a:srgbClr val="044F9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54253"/>
                          </a:solidFill>
                        </a:rPr>
                        <a:t>[Họ tên SV1]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54253"/>
                          </a:solidFill>
                        </a:rPr>
                        <a:t>Data Architect &amp; CRUD Lead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54253"/>
                          </a:solidFill>
                        </a:rPr>
                        <a:t>schema.cql, repo.py, app.py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54253"/>
                          </a:solidFill>
                        </a:rPr>
                        <a:t>[Họ tên SV2]</a:t>
                      </a:r>
                    </a:p>
                  </a:txBody>
                  <a:tcPr anchor="ctr" marL="91440" marR="91440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54253"/>
                          </a:solidFill>
                        </a:rPr>
                        <a:t>Advanced Query Specialist</a:t>
                      </a:r>
                    </a:p>
                  </a:txBody>
                  <a:tcPr anchor="ctr" marL="91440" marR="91440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54253"/>
                          </a:solidFill>
                        </a:rPr>
                        <a:t>queries.cql, demo_query.py, query_range()</a:t>
                      </a:r>
                    </a:p>
                  </a:txBody>
                  <a:tcPr anchor="ctr" marL="91440" marR="91440">
                    <a:solidFill>
                      <a:srgbClr val="EAF3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54253"/>
                          </a:solidFill>
                        </a:rPr>
                        <a:t>[Họ tên SV3]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54253"/>
                          </a:solidFill>
                        </a:rPr>
                        <a:t>Fullstack Integrator &amp; DB Tester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54253"/>
                          </a:solidFill>
                        </a:rPr>
                        <a:t>simulator, seed_data, dashboard, benchmark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98079" y="1828800"/>
            <a:ext cx="3858768" cy="4480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000" b="1">
                <a:solidFill>
                  <a:srgbClr val="2072B7"/>
                </a:solidFill>
              </a:rPr>
              <a:t>Hạn chế và hướng phát triển</a:t>
            </a:r>
          </a:p>
          <a:p>
            <a:pPr algn="l" marL="285750" indent="-285750">
              <a:spcAft>
                <a:spcPts val="600"/>
              </a:spcAft>
              <a:buChar char="•"/>
            </a:pPr>
            <a:r>
              <a:rPr sz="1600" b="0">
                <a:solidFill>
                  <a:srgbClr val="354253"/>
                </a:solidFill>
              </a:rPr>
              <a:t>Độ trễ cao vì database ở region Mỹ: so sánh với Cassandra cục bộ</a:t>
            </a:r>
          </a:p>
          <a:p>
            <a:pPr algn="l" marL="285750" indent="-285750">
              <a:spcAft>
                <a:spcPts val="600"/>
              </a:spcAft>
              <a:buChar char="•"/>
            </a:pPr>
            <a:r>
              <a:rPr sz="1600" b="0">
                <a:solidFill>
                  <a:srgbClr val="354253"/>
                </a:solidFill>
              </a:rPr>
              <a:t>Đặt default_time_to_live để dữ liệu cũ tự hết hạn</a:t>
            </a:r>
          </a:p>
          <a:p>
            <a:pPr algn="l" marL="285750" indent="-285750">
              <a:spcAft>
                <a:spcPts val="600"/>
              </a:spcAft>
              <a:buChar char="•"/>
            </a:pPr>
            <a:r>
              <a:rPr sz="1600" b="0">
                <a:solidFill>
                  <a:srgbClr val="354253"/>
                </a:solidFill>
              </a:rPr>
              <a:t>Bảng rollup theo giờ/ngày; WebSocket thay polling</a:t>
            </a:r>
          </a:p>
          <a:p>
            <a:pPr algn="l" marL="285750" indent="-285750">
              <a:spcAft>
                <a:spcPts val="600"/>
              </a:spcAft>
              <a:buChar char="•"/>
            </a:pPr>
            <a:r>
              <a:rPr sz="1600" b="0">
                <a:solidFill>
                  <a:srgbClr val="354253"/>
                </a:solidFill>
              </a:rPr>
              <a:t>Ngưỡng cảnh báo chưa gửi thông báo</a:t>
            </a:r>
          </a:p>
          <a:p>
            <a:pPr algn="l" marL="285750" indent="-285750">
              <a:spcAft>
                <a:spcPts val="600"/>
              </a:spcAft>
              <a:buChar char="•"/>
            </a:pPr>
            <a:r>
              <a:rPr sz="1600" b="0">
                <a:solidFill>
                  <a:srgbClr val="354253"/>
                </a:solidFill>
              </a:rPr>
              <a:t>Thu hồi token Astra sau khi nộp đồ án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44F9E"/>
                </a:solidFill>
              </a:rPr>
              <a:t>Cảm ơn thầy cô và các bạn đã lắng nghe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sz="2800">
                <a:solidFill>
                  <a:srgbClr val="354253"/>
                </a:solidFill>
              </a:rPr>
              <a:t>Hỏi và đáp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UIT">
      <a:dk1>
        <a:srgbClr val="000000"/>
      </a:dk1>
      <a:lt1>
        <a:srgbClr val="FFFFFF"/>
      </a:lt1>
      <a:dk2>
        <a:srgbClr val="354253"/>
      </a:dk2>
      <a:lt2>
        <a:srgbClr val="E7E6E6"/>
      </a:lt2>
      <a:accent1>
        <a:srgbClr val="044F9E"/>
      </a:accent1>
      <a:accent2>
        <a:srgbClr val="2072B7"/>
      </a:accent2>
      <a:accent3>
        <a:srgbClr val="4CC4EB"/>
      </a:accent3>
      <a:accent4>
        <a:srgbClr val="E81F26"/>
      </a:accent4>
      <a:accent5>
        <a:srgbClr val="FEC01D"/>
      </a:accent5>
      <a:accent6>
        <a:srgbClr val="DBD014"/>
      </a:accent6>
      <a:hlink>
        <a:srgbClr val="2072B7"/>
      </a:hlink>
      <a:folHlink>
        <a:srgbClr val="044F9E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23</Words>
  <Application>Microsoft Office PowerPoint</Application>
  <PresentationFormat>Widescreen</PresentationFormat>
  <Paragraphs>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Myriad Pro</vt:lpstr>
      <vt:lpstr>Arial</vt:lpstr>
      <vt:lpstr>Calibri</vt:lpstr>
      <vt:lpstr>Calibri Light</vt:lpstr>
      <vt:lpstr>Roboto Condensed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Võ Văn Vũ</dc:creator>
  <cp:lastModifiedBy>Nguyễn Lộc</cp:lastModifiedBy>
  <cp:revision>4</cp:revision>
  <dcterms:created xsi:type="dcterms:W3CDTF">2023-11-06T07:10:59Z</dcterms:created>
  <dcterms:modified xsi:type="dcterms:W3CDTF">2026-10-15T11:14:59Z</dcterms:modified>
</cp:coreProperties>
</file>